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· PART 1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— Robot &amp; Web Frontend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Buddy — Robot, Multi-Subject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656832" y="822960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8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— Web Tutor / Voice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912571" cy="566928"/>
          </a:xfrm>
          <a:prstGeom prst="roundRect">
            <a:avLst>
              <a:gd name="adj" fmla="val 12903"/>
            </a:avLst>
          </a:prstGeom>
          <a:solidFill>
            <a:srgbClr val="FDF0D5"/>
          </a:solidFill>
          <a:ln w="15875">
            <a:solidFill>
              <a:srgbClr val="D99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07008"/>
            <a:ext cx="912571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497787" y="1207008"/>
            <a:ext cx="912571" cy="566928"/>
          </a:xfrm>
          <a:prstGeom prst="roundRect">
            <a:avLst>
              <a:gd name="adj" fmla="val 12903"/>
            </a:avLst>
          </a:prstGeom>
          <a:solidFill>
            <a:srgbClr val="FDF0D5"/>
          </a:solidFill>
          <a:ln w="15875">
            <a:solidFill>
              <a:srgbClr val="D99A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97787" y="1207008"/>
            <a:ext cx="912571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Quest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38374" y="1207008"/>
            <a:ext cx="912571" cy="566928"/>
          </a:xfrm>
          <a:prstGeom prst="roundRect">
            <a:avLst>
              <a:gd name="adj" fmla="val 12903"/>
            </a:avLst>
          </a:prstGeom>
          <a:solidFill>
            <a:srgbClr val="FDF0D5"/>
          </a:solidFill>
          <a:ln w="15875">
            <a:solidFill>
              <a:srgbClr val="D99A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38374" y="1207008"/>
            <a:ext cx="912571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Building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578962" y="1207008"/>
            <a:ext cx="912571" cy="566928"/>
          </a:xfrm>
          <a:prstGeom prst="roundRect">
            <a:avLst>
              <a:gd name="adj" fmla="val 12903"/>
            </a:avLst>
          </a:prstGeom>
          <a:solidFill>
            <a:srgbClr val="FDF0D5"/>
          </a:solidFill>
          <a:ln w="15875">
            <a:solidFill>
              <a:srgbClr val="D99A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78962" y="1207008"/>
            <a:ext cx="912571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Puzzle Park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19549" y="1207008"/>
            <a:ext cx="912571" cy="566928"/>
          </a:xfrm>
          <a:prstGeom prst="roundRect">
            <a:avLst>
              <a:gd name="adj" fmla="val 12903"/>
            </a:avLst>
          </a:prstGeom>
          <a:solidFill>
            <a:srgbClr val="FDF0D5"/>
          </a:solidFill>
          <a:ln w="15875">
            <a:solidFill>
              <a:srgbClr val="D99A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9549" y="1207008"/>
            <a:ext cx="912571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Anything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656832" y="1207008"/>
            <a:ext cx="5074920" cy="566928"/>
          </a:xfrm>
          <a:prstGeom prst="roundRect">
            <a:avLst>
              <a:gd name="adj" fmla="val 12903"/>
            </a:avLst>
          </a:prstGeom>
          <a:solidFill>
            <a:srgbClr val="E3ECFB"/>
          </a:solidFill>
          <a:ln w="15875">
            <a:solidFill>
              <a:srgbClr val="5B84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56832" y="1207008"/>
            <a:ext cx="507492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asks a question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typed, spoken, or via camera/mic engagement signal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94660" y="1773936"/>
            <a:ext cx="0" cy="256032"/>
          </a:xfrm>
          <a:prstGeom prst="line">
            <a:avLst/>
          </a:prstGeom>
          <a:noFill/>
          <a:ln w="19050">
            <a:solidFill>
              <a:srgbClr val="9AA1B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194292" y="1773936"/>
            <a:ext cx="0" cy="256032"/>
          </a:xfrm>
          <a:prstGeom prst="line">
            <a:avLst/>
          </a:prstGeom>
          <a:noFill/>
          <a:ln w="19050">
            <a:solidFill>
              <a:srgbClr val="9AA1B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57200" y="2029968"/>
            <a:ext cx="5074920" cy="566928"/>
          </a:xfrm>
          <a:prstGeom prst="roundRect">
            <a:avLst>
              <a:gd name="adj" fmla="val 12903"/>
            </a:avLst>
          </a:prstGeom>
          <a:solidFill>
            <a:srgbClr val="FDF0D5"/>
          </a:solidFill>
          <a:ln w="15875">
            <a:solidFill>
              <a:srgbClr val="D99A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029968"/>
            <a:ext cx="507492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Adapter Layer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query/reply for every activity (chess is the evaluated case)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656832" y="2029968"/>
            <a:ext cx="5074920" cy="566928"/>
          </a:xfrm>
          <a:prstGeom prst="roundRect">
            <a:avLst>
              <a:gd name="adj" fmla="val 12903"/>
            </a:avLst>
          </a:prstGeom>
          <a:solidFill>
            <a:srgbClr val="E3ECFB"/>
          </a:solidFill>
          <a:ln w="15875">
            <a:solidFill>
              <a:srgbClr val="5B84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56832" y="2029968"/>
            <a:ext cx="507492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/tutor/ask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WebSocket /tutor/ask/stream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994660" y="2596896"/>
            <a:ext cx="0" cy="256032"/>
          </a:xfrm>
          <a:prstGeom prst="line">
            <a:avLst/>
          </a:prstGeom>
          <a:noFill/>
          <a:ln w="19050">
            <a:solidFill>
              <a:srgbClr val="9AA1B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194292" y="2596896"/>
            <a:ext cx="0" cy="256032"/>
          </a:xfrm>
          <a:prstGeom prst="line">
            <a:avLst/>
          </a:prstGeom>
          <a:noFill/>
          <a:ln w="19050">
            <a:solidFill>
              <a:srgbClr val="9AA1B2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1988820" y="2596896"/>
            <a:ext cx="201168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Backend →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188452" y="2596896"/>
            <a:ext cx="201168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8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Backend →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" y="2852928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F1F2F5"/>
          </a:solidFill>
          <a:ln w="12700">
            <a:solidFill>
              <a:srgbClr val="C7CCD6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457200" y="2852928"/>
            <a:ext cx="50749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  Backend  ·  Part 2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boundary — see next slide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656832" y="2852928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F1F2F5"/>
          </a:solidFill>
          <a:ln w="12700">
            <a:solidFill>
              <a:srgbClr val="C7CCD6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6656832" y="2852928"/>
            <a:ext cx="50749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  Backend  ·  Part 2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boundary — see next slide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994660" y="3310128"/>
            <a:ext cx="0" cy="256032"/>
          </a:xfrm>
          <a:prstGeom prst="line">
            <a:avLst/>
          </a:prstGeom>
          <a:noFill/>
          <a:ln w="19050">
            <a:solidFill>
              <a:srgbClr val="9AA1B2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194292" y="3310128"/>
            <a:ext cx="0" cy="256032"/>
          </a:xfrm>
          <a:prstGeom prst="line">
            <a:avLst/>
          </a:prstGeom>
          <a:noFill/>
          <a:ln w="19050">
            <a:solidFill>
              <a:srgbClr val="9AA1B2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1988820" y="3310128"/>
            <a:ext cx="201168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response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188452" y="3310128"/>
            <a:ext cx="201168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8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response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7200" y="3566160"/>
            <a:ext cx="5074920" cy="566928"/>
          </a:xfrm>
          <a:prstGeom prst="roundRect">
            <a:avLst>
              <a:gd name="adj" fmla="val 12903"/>
            </a:avLst>
          </a:prstGeom>
          <a:solidFill>
            <a:srgbClr val="FDF0D5"/>
          </a:solidFill>
          <a:ln w="15875">
            <a:solidFill>
              <a:srgbClr val="D99A3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566160"/>
            <a:ext cx="507492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feedback + engine reply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good / mistake / blunder for chess — TTS audio, per activity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656832" y="3566160"/>
            <a:ext cx="5074920" cy="566928"/>
          </a:xfrm>
          <a:prstGeom prst="roundRect">
            <a:avLst>
              <a:gd name="adj" fmla="val 12903"/>
            </a:avLst>
          </a:prstGeom>
          <a:solidFill>
            <a:srgbClr val="E3ECFB"/>
          </a:solidFill>
          <a:ln w="15875">
            <a:solidFill>
              <a:srgbClr val="5B84C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56832" y="3566160"/>
            <a:ext cx="507492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 tutor tokens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live in the browser / tutor UI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994660" y="4133088"/>
            <a:ext cx="0" cy="237744"/>
          </a:xfrm>
          <a:prstGeom prst="line">
            <a:avLst/>
          </a:prstGeom>
          <a:noFill/>
          <a:ln w="19050">
            <a:solidFill>
              <a:srgbClr val="9AA1B2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9194292" y="4133088"/>
            <a:ext cx="0" cy="237744"/>
          </a:xfrm>
          <a:prstGeom prst="line">
            <a:avLst/>
          </a:prstGeom>
          <a:noFill/>
          <a:ln w="19050">
            <a:solidFill>
              <a:srgbClr val="9AA1B2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457200" y="4370832"/>
            <a:ext cx="5074920" cy="548640"/>
          </a:xfrm>
          <a:prstGeom prst="roundRect">
            <a:avLst>
              <a:gd name="adj" fmla="val 13333"/>
            </a:avLst>
          </a:prstGeom>
          <a:solidFill>
            <a:srgbClr val="FDF0D5"/>
          </a:solidFill>
          <a:ln w="15875">
            <a:solidFill>
              <a:srgbClr val="D99A3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370832"/>
            <a:ext cx="5074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Touchscreen + Speaker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gestures accompany playback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656832" y="4370832"/>
            <a:ext cx="5074920" cy="548640"/>
          </a:xfrm>
          <a:prstGeom prst="roundRect">
            <a:avLst>
              <a:gd name="adj" fmla="val 13333"/>
            </a:avLst>
          </a:prstGeom>
          <a:solidFill>
            <a:srgbClr val="E3ECFB"/>
          </a:solidFill>
          <a:ln w="15875">
            <a:solidFill>
              <a:srgbClr val="5B84C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56832" y="4370832"/>
            <a:ext cx="5074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UI renders answer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optional voice playback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194292" y="4919472"/>
            <a:ext cx="0" cy="292608"/>
          </a:xfrm>
          <a:prstGeom prst="line">
            <a:avLst/>
          </a:prstGeom>
          <a:noFill/>
          <a:ln w="19050">
            <a:solidFill>
              <a:srgbClr val="5FA96F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6656832" y="5212080"/>
            <a:ext cx="5074920" cy="548640"/>
          </a:xfrm>
          <a:prstGeom prst="roundRect">
            <a:avLst>
              <a:gd name="adj" fmla="val 13333"/>
            </a:avLst>
          </a:prstGeom>
          <a:solidFill>
            <a:srgbClr val="E2F3E5"/>
          </a:solidFill>
          <a:ln w="15875">
            <a:solidFill>
              <a:srgbClr val="5FA96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56832" y="5212080"/>
            <a:ext cx="5074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Dashboard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class analytics — reads Backend API (Part 2)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57200" y="5212080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on-device — not shown on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dashboard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57200" y="651052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frontend-robot- (Next.js pages/dashboard) + touchscreen/speaker/servo hardware. No grading or reasoning logic lives on this side.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· PART 2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— Learning Buddy Adapter, Agent Pipeline &amp; Data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Buddy Adapter · Chess example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892040" y="82296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86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SupervisorAgent Pipeline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3977640" cy="512064"/>
          </a:xfrm>
          <a:prstGeom prst="roundRect">
            <a:avLst>
              <a:gd name="adj" fmla="val 14286"/>
            </a:avLst>
          </a:prstGeom>
          <a:solidFill>
            <a:srgbClr val="FDF0D5"/>
          </a:solidFill>
          <a:ln w="15875">
            <a:solidFill>
              <a:srgbClr val="D99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07008"/>
            <a:ext cx="397764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 check</a:t>
            </a:r>
            <a:endParaRPr lang="en-US" sz="11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chess: legal move? · others: their own check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92040" y="1207008"/>
            <a:ext cx="3977640" cy="512064"/>
          </a:xfrm>
          <a:prstGeom prst="roundRect">
            <a:avLst>
              <a:gd name="adj" fmla="val 14286"/>
            </a:avLst>
          </a:prstGeom>
          <a:solidFill>
            <a:srgbClr val="ECE3F8"/>
          </a:solidFill>
          <a:ln w="15875">
            <a:solidFill>
              <a:srgbClr val="8862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207008"/>
            <a:ext cx="397764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Perception Agent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the raw input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446020" y="1719072"/>
            <a:ext cx="0" cy="182880"/>
          </a:xfrm>
          <a:prstGeom prst="line">
            <a:avLst/>
          </a:prstGeom>
          <a:noFill/>
          <a:ln w="19050">
            <a:solidFill>
              <a:srgbClr val="9AA1B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880860" y="1719072"/>
            <a:ext cx="0" cy="182880"/>
          </a:xfrm>
          <a:prstGeom prst="line">
            <a:avLst/>
          </a:prstGeom>
          <a:noFill/>
          <a:ln w="19050">
            <a:solidFill>
              <a:srgbClr val="9AA1B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" y="1901952"/>
            <a:ext cx="3977640" cy="512064"/>
          </a:xfrm>
          <a:prstGeom prst="roundRect">
            <a:avLst>
              <a:gd name="adj" fmla="val 14286"/>
            </a:avLst>
          </a:prstGeom>
          <a:solidFill>
            <a:srgbClr val="FDF0D5"/>
          </a:solidFill>
          <a:ln w="15875">
            <a:solidFill>
              <a:srgbClr val="D99A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01952"/>
            <a:ext cx="397764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scoring</a:t>
            </a:r>
            <a:endParaRPr lang="en-US" sz="11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chess: Stockfish depth 12 · others: own scorer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92040" y="1901952"/>
            <a:ext cx="3977640" cy="512064"/>
          </a:xfrm>
          <a:prstGeom prst="roundRect">
            <a:avLst>
              <a:gd name="adj" fmla="val 14286"/>
            </a:avLst>
          </a:prstGeom>
          <a:solidFill>
            <a:srgbClr val="ECE3F8"/>
          </a:solidFill>
          <a:ln w="15875">
            <a:solidFill>
              <a:srgbClr val="8862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901952"/>
            <a:ext cx="397764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Diagnostic Agent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learner's mastery state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446020" y="2414016"/>
            <a:ext cx="0" cy="182880"/>
          </a:xfrm>
          <a:prstGeom prst="line">
            <a:avLst/>
          </a:prstGeom>
          <a:noFill/>
          <a:ln w="19050">
            <a:solidFill>
              <a:srgbClr val="9AA1B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80860" y="2414016"/>
            <a:ext cx="0" cy="182880"/>
          </a:xfrm>
          <a:prstGeom prst="line">
            <a:avLst/>
          </a:prstGeom>
          <a:noFill/>
          <a:ln w="19050">
            <a:solidFill>
              <a:srgbClr val="9AA1B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7200" y="2596896"/>
            <a:ext cx="3977640" cy="512064"/>
          </a:xfrm>
          <a:prstGeom prst="roundRect">
            <a:avLst>
              <a:gd name="adj" fmla="val 14286"/>
            </a:avLst>
          </a:prstGeom>
          <a:solidFill>
            <a:srgbClr val="FDF0D5"/>
          </a:solidFill>
          <a:ln w="15875">
            <a:solidFill>
              <a:srgbClr val="D99A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596896"/>
            <a:ext cx="397764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+ detect concept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/ mistake / blunder → skill_id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92040" y="2596896"/>
            <a:ext cx="3977640" cy="512064"/>
          </a:xfrm>
          <a:prstGeom prst="roundRect">
            <a:avLst>
              <a:gd name="adj" fmla="val 14286"/>
            </a:avLst>
          </a:prstGeom>
          <a:solidFill>
            <a:srgbClr val="ECE3F8"/>
          </a:solidFill>
          <a:ln w="15875">
            <a:solidFill>
              <a:srgbClr val="8862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596896"/>
            <a:ext cx="397764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Pedagogical Agent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teaching action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880860" y="3108960"/>
            <a:ext cx="0" cy="182880"/>
          </a:xfrm>
          <a:prstGeom prst="line">
            <a:avLst/>
          </a:prstGeom>
          <a:noFill/>
          <a:ln w="19050">
            <a:solidFill>
              <a:srgbClr val="9AA1B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892040" y="3291840"/>
            <a:ext cx="3977640" cy="512064"/>
          </a:xfrm>
          <a:prstGeom prst="roundRect">
            <a:avLst>
              <a:gd name="adj" fmla="val 14286"/>
            </a:avLst>
          </a:prstGeom>
          <a:solidFill>
            <a:srgbClr val="ECE3F8"/>
          </a:solidFill>
          <a:ln w="15875">
            <a:solidFill>
              <a:srgbClr val="8862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291840"/>
            <a:ext cx="397764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Content Agent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context + build the prompt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326880" y="2962656"/>
            <a:ext cx="2404872" cy="420624"/>
          </a:xfrm>
          <a:prstGeom prst="roundRect">
            <a:avLst>
              <a:gd name="adj" fmla="val 13043"/>
            </a:avLst>
          </a:prstGeom>
          <a:solidFill>
            <a:srgbClr val="F1F2F5"/>
          </a:solidFill>
          <a:ln w="12700">
            <a:solidFill>
              <a:srgbClr val="C7CCD6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9326880" y="2962656"/>
            <a:ext cx="2404872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vectors — teacher PDF, top-4 chunks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326880" y="3675888"/>
            <a:ext cx="2404872" cy="420624"/>
          </a:xfrm>
          <a:prstGeom prst="roundRect">
            <a:avLst>
              <a:gd name="adj" fmla="val 13043"/>
            </a:avLst>
          </a:prstGeom>
          <a:solidFill>
            <a:srgbClr val="F1F2F5"/>
          </a:solidFill>
          <a:ln w="12700">
            <a:solidFill>
              <a:srgbClr val="C7CCD6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9326880" y="3675888"/>
            <a:ext cx="2404872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+ interaction history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 flipV="1">
            <a:off x="8869680" y="3172968"/>
            <a:ext cx="457200" cy="228600"/>
          </a:xfrm>
          <a:prstGeom prst="line">
            <a:avLst/>
          </a:prstGeom>
          <a:noFill/>
          <a:ln w="19050">
            <a:solidFill>
              <a:srgbClr val="5FA96F"/>
            </a:solidFill>
            <a:prstDash val="dash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869680" y="3694176"/>
            <a:ext cx="457200" cy="192024"/>
          </a:xfrm>
          <a:prstGeom prst="line">
            <a:avLst/>
          </a:prstGeom>
          <a:noFill/>
          <a:ln w="19050">
            <a:solidFill>
              <a:srgbClr val="5FA96F"/>
            </a:solidFill>
            <a:prstDash val="dash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80860" y="3803904"/>
            <a:ext cx="0" cy="182880"/>
          </a:xfrm>
          <a:prstGeom prst="line">
            <a:avLst/>
          </a:prstGeom>
          <a:noFill/>
          <a:ln w="19050">
            <a:solidFill>
              <a:srgbClr val="9AA1B2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892040" y="3986784"/>
            <a:ext cx="3977640" cy="512064"/>
          </a:xfrm>
          <a:prstGeom prst="roundRect">
            <a:avLst>
              <a:gd name="adj" fmla="val 14286"/>
            </a:avLst>
          </a:prstGeom>
          <a:solidFill>
            <a:srgbClr val="ECE3F8"/>
          </a:solidFill>
          <a:ln w="15875">
            <a:solidFill>
              <a:srgbClr val="8862C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3986784"/>
            <a:ext cx="397764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LLM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response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446020" y="3108960"/>
            <a:ext cx="1714500" cy="1700784"/>
          </a:xfrm>
          <a:prstGeom prst="line">
            <a:avLst/>
          </a:prstGeom>
          <a:noFill/>
          <a:ln w="19050">
            <a:solidFill>
              <a:srgbClr val="9AA1B2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880860" y="4498848"/>
            <a:ext cx="0" cy="310896"/>
          </a:xfrm>
          <a:prstGeom prst="line">
            <a:avLst/>
          </a:prstGeom>
          <a:noFill/>
          <a:ln w="19050">
            <a:solidFill>
              <a:srgbClr val="9AA1B2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2011680" y="4809744"/>
            <a:ext cx="6949440" cy="512064"/>
          </a:xfrm>
          <a:prstGeom prst="roundRect">
            <a:avLst>
              <a:gd name="adj" fmla="val 14286"/>
            </a:avLst>
          </a:prstGeom>
          <a:solidFill>
            <a:srgbClr val="FDF0D5"/>
          </a:solidFill>
          <a:ln w="15875">
            <a:solidFill>
              <a:srgbClr val="D99A3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11680" y="4809744"/>
            <a:ext cx="694944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output — five safety checks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once → corrective retry with the LLM · fails again → deterministic fallback template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888029" y="5321808"/>
            <a:ext cx="0" cy="201168"/>
          </a:xfrm>
          <a:prstGeom prst="line">
            <a:avLst/>
          </a:prstGeom>
          <a:noFill/>
          <a:ln w="19050">
            <a:solidFill>
              <a:srgbClr val="5B84C4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 flipH="1">
            <a:off x="7084771" y="5321808"/>
            <a:ext cx="0" cy="201168"/>
          </a:xfrm>
          <a:prstGeom prst="line">
            <a:avLst/>
          </a:prstGeom>
          <a:noFill/>
          <a:ln w="19050">
            <a:solidFill>
              <a:srgbClr val="5FA96F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457200" y="5522976"/>
            <a:ext cx="5577840" cy="777240"/>
          </a:xfrm>
          <a:prstGeom prst="roundRect">
            <a:avLst>
              <a:gd name="adj" fmla="val 9412"/>
            </a:avLst>
          </a:prstGeom>
          <a:solidFill>
            <a:srgbClr val="E3ECFB"/>
          </a:solidFill>
          <a:ln w="15875">
            <a:solidFill>
              <a:srgbClr val="5B84C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5522976"/>
            <a:ext cx="55778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returned to Part 1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reply + TTS audio (Learning Buddy)  ·  tokens over WebSocket (Atlas)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09360" y="5522976"/>
            <a:ext cx="5422392" cy="777240"/>
          </a:xfrm>
          <a:prstGeom prst="roundRect">
            <a:avLst>
              <a:gd name="adj" fmla="val 9412"/>
            </a:avLst>
          </a:prstGeom>
          <a:solidFill>
            <a:srgbClr val="E2F3E5"/>
          </a:solidFill>
          <a:ln w="15875">
            <a:solidFill>
              <a:srgbClr val="5FA96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5522976"/>
            <a:ext cx="5422392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interaction · update BKT mastery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tutor sessions notify Teacher Dashboard; Learning Buddy sessions do not.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57200" y="656539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personalized-robot-/code/Backend — FastAPI (app/api/v1/*) + app/ml/agents/*. Owns all grading, reasoning, retrieval, safety-checking and persistence.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2026-09-01T17:50:51Z</dcterms:created>
  <dcterms:modified xsi:type="dcterms:W3CDTF">2026-09-01T17:50:51Z</dcterms:modified>
</cp:coreProperties>
</file>